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6" r:id="rId10"/>
    <p:sldId id="265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1D8BD707-D9CF-40AE-B4C6-C98DA3205C09}" type="datetimeFigureOut">
              <a:rPr lang="en-US" smtClean="0"/>
              <a:pPr/>
              <a:t>3/16/2018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CHAPTER 7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ALLOYS &amp; COMPOUNDS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INTRODUCTION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An </a:t>
            </a:r>
            <a:r>
              <a:rPr lang="en-US" sz="2800" b="1" dirty="0" smtClean="0"/>
              <a:t>alloy</a:t>
            </a:r>
            <a:r>
              <a:rPr lang="en-US" sz="2800" dirty="0" smtClean="0"/>
              <a:t> is a mixture of two elements, one of which is a metal</a:t>
            </a:r>
            <a:r>
              <a:rPr lang="en-US" sz="2800" dirty="0" smtClean="0"/>
              <a:t>.</a:t>
            </a:r>
          </a:p>
          <a:p>
            <a:r>
              <a:rPr lang="en-US" sz="2800" dirty="0" smtClean="0"/>
              <a:t> </a:t>
            </a:r>
            <a:r>
              <a:rPr lang="en-US" sz="2800" b="1" dirty="0" smtClean="0"/>
              <a:t>Alloys</a:t>
            </a:r>
            <a:r>
              <a:rPr lang="en-US" sz="2800" dirty="0" smtClean="0"/>
              <a:t> often have properties that are different to the metals they contain. This makes them more useful than the pure metals alone. For example, </a:t>
            </a:r>
            <a:r>
              <a:rPr lang="en-US" sz="2800" b="1" dirty="0" smtClean="0"/>
              <a:t>alloys</a:t>
            </a:r>
            <a:r>
              <a:rPr lang="en-US" sz="2800" dirty="0" smtClean="0"/>
              <a:t> are often harder than the metal they </a:t>
            </a:r>
            <a:r>
              <a:rPr lang="en-US" sz="2800" dirty="0" smtClean="0"/>
              <a:t>contain</a:t>
            </a:r>
          </a:p>
          <a:p>
            <a:r>
              <a:rPr lang="en-US" sz="2800" dirty="0" smtClean="0"/>
              <a:t>They have properties of metals but are not elements</a:t>
            </a:r>
          </a:p>
          <a:p>
            <a:endParaRPr 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Examples of alloys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Bronze-</a:t>
            </a:r>
            <a:r>
              <a:rPr lang="en-US" sz="2400" dirty="0" smtClean="0"/>
              <a:t> is a mixture of copper and tin</a:t>
            </a:r>
          </a:p>
          <a:p>
            <a:r>
              <a:rPr lang="en-US" sz="2400" dirty="0" smtClean="0"/>
              <a:t>Used to make statues, medals, coins, decoration pieces and household utensil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Brass</a:t>
            </a:r>
            <a:r>
              <a:rPr lang="en-US" sz="2400" dirty="0" smtClean="0"/>
              <a:t> – an alloy of copper and zinc</a:t>
            </a:r>
          </a:p>
          <a:p>
            <a:r>
              <a:rPr lang="en-US" sz="2400" dirty="0" smtClean="0"/>
              <a:t>Used to make parts of machinery, musical instruments and ornamental objects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Stainless steel- </a:t>
            </a:r>
            <a:r>
              <a:rPr lang="en-US" sz="2400" dirty="0" smtClean="0"/>
              <a:t>an iron alloy of chromium and nickel</a:t>
            </a:r>
          </a:p>
          <a:p>
            <a:r>
              <a:rPr lang="en-US" sz="2400" dirty="0" smtClean="0"/>
              <a:t>Used in making cutlery, household utensils, automobile parts and surgical instruments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Gold-copper</a:t>
            </a:r>
            <a:r>
              <a:rPr lang="en-US" sz="2400" dirty="0" smtClean="0"/>
              <a:t> alloy- used to make durable </a:t>
            </a:r>
            <a:r>
              <a:rPr lang="en-US" sz="2400" dirty="0" err="1" smtClean="0"/>
              <a:t>jewellery</a:t>
            </a:r>
            <a:r>
              <a:rPr lang="en-US" sz="2400" dirty="0" smtClean="0"/>
              <a:t> 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</a:rPr>
              <a:t>Duralumin</a:t>
            </a:r>
            <a:r>
              <a:rPr lang="en-US" dirty="0" smtClean="0"/>
              <a:t> – is an alloy of </a:t>
            </a:r>
            <a:r>
              <a:rPr lang="en-US" dirty="0" err="1" smtClean="0"/>
              <a:t>aluminium</a:t>
            </a:r>
            <a:r>
              <a:rPr lang="en-US" dirty="0" smtClean="0"/>
              <a:t>, copper, magnesium and manganese</a:t>
            </a:r>
          </a:p>
          <a:p>
            <a:r>
              <a:rPr lang="en-US" dirty="0" smtClean="0"/>
              <a:t>This alloy is more strong and lighter than </a:t>
            </a:r>
            <a:r>
              <a:rPr lang="en-US" dirty="0" err="1" smtClean="0"/>
              <a:t>aluminium</a:t>
            </a:r>
            <a:r>
              <a:rPr lang="en-US" dirty="0" smtClean="0"/>
              <a:t> itself</a:t>
            </a:r>
          </a:p>
          <a:p>
            <a:r>
              <a:rPr lang="en-US" dirty="0" smtClean="0"/>
              <a:t>It is used in manufacture of airplanes and aircrafts</a:t>
            </a:r>
          </a:p>
          <a:p>
            <a:r>
              <a:rPr lang="en-US" dirty="0" smtClean="0"/>
              <a:t>New Samsung notebook Pc is made of duralumin</a:t>
            </a:r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Compounds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/>
              <a:t>Compounds combine in a fixed proportion</a:t>
            </a:r>
          </a:p>
          <a:p>
            <a:r>
              <a:rPr lang="en-US" sz="2400" dirty="0" smtClean="0"/>
              <a:t>Their properties are different from their constituent elements as well as their MP and BP</a:t>
            </a:r>
          </a:p>
          <a:p>
            <a:r>
              <a:rPr lang="en-US" sz="2400" dirty="0" smtClean="0"/>
              <a:t>Cannot be separated by any physical means </a:t>
            </a:r>
            <a:r>
              <a:rPr lang="en-US" sz="2400" dirty="0" err="1" smtClean="0"/>
              <a:t>e.g</a:t>
            </a:r>
            <a:r>
              <a:rPr lang="en-US" sz="2400" dirty="0" smtClean="0"/>
              <a:t> water 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Water</a:t>
            </a:r>
            <a:r>
              <a:rPr lang="en-US" sz="2400" dirty="0" smtClean="0"/>
              <a:t> – contains two hydrogen and one oxygen atoms </a:t>
            </a:r>
            <a:r>
              <a:rPr lang="en-US" sz="2400" dirty="0" err="1" smtClean="0"/>
              <a:t>i.e</a:t>
            </a:r>
            <a:r>
              <a:rPr lang="en-US" sz="2400" dirty="0" smtClean="0"/>
              <a:t> 2:1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Hydrogen peroxide </a:t>
            </a:r>
            <a:r>
              <a:rPr lang="en-US" sz="2400" dirty="0" smtClean="0"/>
              <a:t>(H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O</a:t>
            </a:r>
            <a:r>
              <a:rPr lang="en-US" sz="2400" baseline="-25000" dirty="0" smtClean="0"/>
              <a:t>2</a:t>
            </a:r>
            <a:r>
              <a:rPr lang="en-US" sz="2400" dirty="0" smtClean="0"/>
              <a:t>)-  a toxic liquid with two molecules of hydrogen and two molecules of oxygen. </a:t>
            </a:r>
            <a:r>
              <a:rPr lang="en-US" sz="2400" dirty="0" err="1" smtClean="0"/>
              <a:t>i.e</a:t>
            </a:r>
            <a:r>
              <a:rPr lang="en-US" sz="2400" dirty="0" smtClean="0"/>
              <a:t> ratio 2:2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Sodium chloride (</a:t>
            </a:r>
            <a:r>
              <a:rPr lang="en-US" sz="2400" dirty="0" err="1" smtClean="0">
                <a:solidFill>
                  <a:srgbClr val="FF0000"/>
                </a:solidFill>
              </a:rPr>
              <a:t>NaCl</a:t>
            </a:r>
            <a:r>
              <a:rPr lang="en-US" sz="2400" dirty="0" smtClean="0">
                <a:solidFill>
                  <a:srgbClr val="FF0000"/>
                </a:solidFill>
              </a:rPr>
              <a:t>)-  </a:t>
            </a:r>
            <a:r>
              <a:rPr lang="en-US" sz="2400" dirty="0" smtClean="0"/>
              <a:t>a common  table salt.</a:t>
            </a:r>
          </a:p>
          <a:p>
            <a:r>
              <a:rPr lang="en-US" sz="2400" dirty="0" smtClean="0"/>
              <a:t>Contains sodium (metal) and chlorine (non-metal)</a:t>
            </a:r>
          </a:p>
          <a:p>
            <a:r>
              <a:rPr lang="en-US" sz="2400" dirty="0" smtClean="0"/>
              <a:t>Used in manufacturing of glass, soap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Cont’d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FF0000"/>
                </a:solidFill>
              </a:rPr>
              <a:t>Hydrochloric acid (</a:t>
            </a:r>
            <a:r>
              <a:rPr lang="en-US" sz="2400" dirty="0" err="1" smtClean="0">
                <a:solidFill>
                  <a:srgbClr val="FF0000"/>
                </a:solidFill>
              </a:rPr>
              <a:t>HCl</a:t>
            </a:r>
            <a:r>
              <a:rPr lang="en-US" sz="2400" dirty="0" smtClean="0">
                <a:solidFill>
                  <a:srgbClr val="FF0000"/>
                </a:solidFill>
              </a:rPr>
              <a:t>)- </a:t>
            </a:r>
            <a:r>
              <a:rPr lang="en-US" sz="2400" dirty="0" smtClean="0"/>
              <a:t>is a mineral acid and highly corrosive</a:t>
            </a:r>
          </a:p>
          <a:p>
            <a:r>
              <a:rPr lang="en-US" sz="2400" dirty="0" smtClean="0"/>
              <a:t>Used for cleaning washbasins, floor tiles and metallic surfaces</a:t>
            </a:r>
          </a:p>
          <a:p>
            <a:r>
              <a:rPr lang="en-US" sz="2400" dirty="0" smtClean="0"/>
              <a:t>Stomach contains small amount of </a:t>
            </a:r>
            <a:r>
              <a:rPr lang="en-US" sz="2400" dirty="0" err="1" smtClean="0"/>
              <a:t>Hcl</a:t>
            </a:r>
            <a:r>
              <a:rPr lang="en-US" sz="2400" dirty="0" smtClean="0"/>
              <a:t> that helps in digestion and killing of microorganisms that might be present in the food</a:t>
            </a:r>
          </a:p>
          <a:p>
            <a:r>
              <a:rPr lang="en-US" sz="2400" dirty="0" smtClean="0">
                <a:solidFill>
                  <a:srgbClr val="FF0000"/>
                </a:solidFill>
              </a:rPr>
              <a:t>Limestone and marble- </a:t>
            </a:r>
            <a:r>
              <a:rPr lang="en-US" sz="2400" dirty="0" smtClean="0"/>
              <a:t>are forms of calcium carbonates</a:t>
            </a:r>
          </a:p>
          <a:p>
            <a:r>
              <a:rPr lang="en-US" sz="2400" dirty="0" smtClean="0"/>
              <a:t>White marble is used to make statues and monuments</a:t>
            </a:r>
          </a:p>
          <a:p>
            <a:r>
              <a:rPr lang="en-US" sz="2400" dirty="0" smtClean="0"/>
              <a:t>Ground calcium carbonate is used as a coating pigment for paper because of its high brightness, and also in paints</a:t>
            </a:r>
          </a:p>
          <a:p>
            <a:r>
              <a:rPr lang="en-US" sz="2400" dirty="0" smtClean="0"/>
              <a:t>Limestone is used to make slaked lime used for whitewashing walls</a:t>
            </a:r>
          </a:p>
          <a:p>
            <a:endParaRPr lang="en-US" sz="2400" dirty="0" smtClean="0"/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Types of compound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sz="2400" dirty="0" smtClean="0"/>
              <a:t>1. </a:t>
            </a:r>
            <a:r>
              <a:rPr lang="en-US" sz="2400" dirty="0" smtClean="0">
                <a:solidFill>
                  <a:srgbClr val="FF0000"/>
                </a:solidFill>
              </a:rPr>
              <a:t>Organic compounds- </a:t>
            </a:r>
            <a:r>
              <a:rPr lang="en-US" sz="2400" dirty="0" smtClean="0"/>
              <a:t>are found in living organism</a:t>
            </a:r>
          </a:p>
          <a:p>
            <a:r>
              <a:rPr lang="en-US" sz="2400" dirty="0" smtClean="0"/>
              <a:t>Have hydrogen, carbon and oxygen elements and small amounts of nitrogen and </a:t>
            </a:r>
            <a:r>
              <a:rPr lang="en-US" sz="2400" dirty="0" err="1" smtClean="0"/>
              <a:t>sulphur</a:t>
            </a:r>
            <a:endParaRPr lang="en-US" sz="2400" dirty="0" smtClean="0"/>
          </a:p>
          <a:p>
            <a:r>
              <a:rPr lang="en-US" sz="2400" dirty="0" smtClean="0"/>
              <a:t>Examples include</a:t>
            </a:r>
          </a:p>
          <a:p>
            <a:r>
              <a:rPr lang="en-US" sz="2400" b="1" i="1" dirty="0" smtClean="0"/>
              <a:t>Hydrocarbons </a:t>
            </a:r>
            <a:r>
              <a:rPr lang="en-US" sz="2400" dirty="0" smtClean="0"/>
              <a:t>– these contains hydrogen and carbon only </a:t>
            </a:r>
            <a:r>
              <a:rPr lang="en-US" sz="2400" dirty="0" err="1" smtClean="0"/>
              <a:t>e.g</a:t>
            </a:r>
            <a:r>
              <a:rPr lang="en-US" sz="2400" dirty="0" smtClean="0"/>
              <a:t> Coal, Petroleum, natural gas</a:t>
            </a:r>
          </a:p>
          <a:p>
            <a:r>
              <a:rPr lang="en-US" sz="2400" b="1" i="1" dirty="0" smtClean="0"/>
              <a:t>Carbohydrates, proteins, fats- </a:t>
            </a:r>
            <a:r>
              <a:rPr lang="en-US" sz="2400" dirty="0" smtClean="0"/>
              <a:t>contains hydrogen, carbon and oxygen atoms in proportions.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2. man-made materials- </a:t>
            </a:r>
            <a:r>
              <a:rPr lang="en-US" sz="2400" dirty="0" smtClean="0"/>
              <a:t>are inorganic compounds that are manufactured. Example, plastics, cement, medicines, soaps, glass and detergents</a:t>
            </a:r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Differences between alloys and </a:t>
            </a:r>
            <a:r>
              <a:rPr lang="en-US" sz="3200" dirty="0" smtClean="0"/>
              <a:t>compounds</a:t>
            </a:r>
            <a:endParaRPr lang="en-US" sz="4000" dirty="0"/>
          </a:p>
        </p:txBody>
      </p:sp>
      <p:graphicFrame>
        <p:nvGraphicFramePr>
          <p:cNvPr id="5" name="Content Placeholder 4"/>
          <p:cNvGraphicFramePr>
            <a:graphicFrameLocks noGrp="1"/>
          </p:cNvGraphicFramePr>
          <p:nvPr>
            <p:ph idx="1"/>
          </p:nvPr>
        </p:nvGraphicFramePr>
        <p:xfrm>
          <a:off x="457200" y="1774825"/>
          <a:ext cx="8229600" cy="4495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801875"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Alloys</a:t>
                      </a:r>
                      <a:r>
                        <a:rPr lang="en-US" sz="2400" baseline="0" dirty="0" smtClean="0"/>
                        <a:t> 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4000" dirty="0" smtClean="0"/>
                        <a:t>Compound</a:t>
                      </a:r>
                      <a:r>
                        <a:rPr lang="en-US" sz="2400" dirty="0" smtClean="0"/>
                        <a:t> </a:t>
                      </a:r>
                      <a:endParaRPr lang="en-US" sz="2400" dirty="0"/>
                    </a:p>
                  </a:txBody>
                  <a:tcPr/>
                </a:tc>
              </a:tr>
              <a:tr h="1384059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Homogenous</a:t>
                      </a:r>
                      <a:r>
                        <a:rPr lang="en-US" sz="2400" baseline="0" dirty="0" smtClean="0"/>
                        <a:t> mixture of metal with another or nonmetal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Combination</a:t>
                      </a:r>
                      <a:r>
                        <a:rPr lang="en-US" sz="2400" baseline="0" dirty="0" smtClean="0"/>
                        <a:t> of two elements in a fixed ratio</a:t>
                      </a:r>
                      <a:endParaRPr lang="en-US" sz="2400" dirty="0"/>
                    </a:p>
                  </a:txBody>
                  <a:tcPr/>
                </a:tc>
              </a:tr>
              <a:tr h="1384059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Does not involve any chemical</a:t>
                      </a:r>
                      <a:r>
                        <a:rPr lang="en-US" sz="2400" baseline="0" dirty="0" smtClean="0"/>
                        <a:t> reaction or bond formation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Involves chemical reactions forms</a:t>
                      </a:r>
                      <a:r>
                        <a:rPr lang="en-US" sz="2400" baseline="0" dirty="0" smtClean="0"/>
                        <a:t> new bonds</a:t>
                      </a:r>
                      <a:endParaRPr lang="en-US" sz="2400" dirty="0"/>
                    </a:p>
                  </a:txBody>
                  <a:tcPr/>
                </a:tc>
              </a:tr>
              <a:tr h="925807"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One element must be a metal</a:t>
                      </a:r>
                      <a:endParaRPr lang="en-US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Two or more non-metals can combine</a:t>
                      </a:r>
                      <a:r>
                        <a:rPr lang="en-US" sz="2400" baseline="0" dirty="0" smtClean="0"/>
                        <a:t> </a:t>
                      </a:r>
                      <a:endParaRPr lang="en-US" sz="2400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 smtClean="0"/>
              <a:t>Note (medicine ) </a:t>
            </a: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b="1" i="1" dirty="0" smtClean="0"/>
              <a:t>Antacids-</a:t>
            </a:r>
            <a:r>
              <a:rPr lang="en-US" sz="2400" dirty="0" smtClean="0"/>
              <a:t> used to relief stomach acidity caused by excessive acid production. </a:t>
            </a:r>
            <a:r>
              <a:rPr lang="en-US" sz="2400" dirty="0" err="1" smtClean="0"/>
              <a:t>E.g</a:t>
            </a:r>
            <a:r>
              <a:rPr lang="en-US" sz="2400" dirty="0" smtClean="0"/>
              <a:t> milk of magnesia</a:t>
            </a:r>
          </a:p>
          <a:p>
            <a:r>
              <a:rPr lang="en-US" sz="2400" b="1" i="1" dirty="0" smtClean="0"/>
              <a:t>Analgesics</a:t>
            </a:r>
            <a:r>
              <a:rPr lang="en-US" sz="2400" dirty="0" smtClean="0"/>
              <a:t> (painkillers) - give relief from pain </a:t>
            </a:r>
            <a:r>
              <a:rPr lang="en-US" sz="2400" dirty="0" err="1" smtClean="0"/>
              <a:t>e.g</a:t>
            </a:r>
            <a:r>
              <a:rPr lang="en-US" sz="2400" dirty="0" smtClean="0"/>
              <a:t> aspirin</a:t>
            </a:r>
          </a:p>
          <a:p>
            <a:r>
              <a:rPr lang="en-US" sz="2400" b="1" i="1" dirty="0" smtClean="0"/>
              <a:t>Antipyretic-</a:t>
            </a:r>
            <a:r>
              <a:rPr lang="en-US" sz="2400" dirty="0" smtClean="0"/>
              <a:t> helps to bring down fever and reduce pain </a:t>
            </a:r>
            <a:r>
              <a:rPr lang="en-US" sz="2400" dirty="0" err="1" smtClean="0"/>
              <a:t>e.g</a:t>
            </a:r>
            <a:r>
              <a:rPr lang="en-US" sz="2400" dirty="0" smtClean="0"/>
              <a:t> </a:t>
            </a:r>
            <a:r>
              <a:rPr lang="en-US" sz="2400" dirty="0" err="1" smtClean="0"/>
              <a:t>paracetamol</a:t>
            </a:r>
            <a:endParaRPr lang="en-US" sz="2400" dirty="0" smtClean="0"/>
          </a:p>
          <a:p>
            <a:r>
              <a:rPr lang="en-US" sz="2400" b="1" i="1" dirty="0" smtClean="0"/>
              <a:t>Antiseptics-</a:t>
            </a:r>
            <a:r>
              <a:rPr lang="en-US" sz="2400" dirty="0" smtClean="0"/>
              <a:t> used to prevent growth of microorganism in wounds </a:t>
            </a:r>
          </a:p>
          <a:p>
            <a:r>
              <a:rPr lang="en-US" sz="2400" b="1" i="1" dirty="0" smtClean="0"/>
              <a:t>Antibiotics-</a:t>
            </a:r>
            <a:r>
              <a:rPr lang="en-US" sz="2400" dirty="0" smtClean="0"/>
              <a:t> used to inhibit the growth of other diseases causing microorganism</a:t>
            </a:r>
          </a:p>
          <a:p>
            <a:r>
              <a:rPr lang="en-US" sz="2400" b="1" i="1" dirty="0" smtClean="0"/>
              <a:t>Anti-histamines-</a:t>
            </a:r>
            <a:r>
              <a:rPr lang="en-US" sz="2400" dirty="0" smtClean="0"/>
              <a:t> used to treat allergies, hypersensitive reactions and colds</a:t>
            </a:r>
          </a:p>
          <a:p>
            <a:endParaRPr 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/>
          <a:lstStyle/>
          <a:p>
            <a:r>
              <a:rPr lang="en-US" dirty="0" smtClean="0"/>
              <a:t>CONCLUSION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/>
          <a:lstStyle/>
          <a:p>
            <a:pPr>
              <a:buNone/>
            </a:pPr>
            <a:r>
              <a:rPr lang="en-US" dirty="0" smtClean="0"/>
              <a:t>THANK YOU MY DEAR STUDENTS</a:t>
            </a:r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dirty="0" smtClean="0"/>
              <a:t>LOVE YOU 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dirty="0" smtClean="0"/>
              <a:t>Glory be to Allah the GOD of ALL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12</TotalTime>
  <Words>526</Words>
  <Application>Microsoft Office PowerPoint</Application>
  <PresentationFormat>On-screen Show (4:3)</PresentationFormat>
  <Paragraphs>66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Module</vt:lpstr>
      <vt:lpstr>CHAPTER 7</vt:lpstr>
      <vt:lpstr>INTRODUCTION</vt:lpstr>
      <vt:lpstr>Examples of alloys </vt:lpstr>
      <vt:lpstr>Cont’d</vt:lpstr>
      <vt:lpstr>Compounds </vt:lpstr>
      <vt:lpstr>Cont’d</vt:lpstr>
      <vt:lpstr>Types of compound</vt:lpstr>
      <vt:lpstr>Differences between alloys and compounds</vt:lpstr>
      <vt:lpstr>Note (medicine ) </vt:lpstr>
      <vt:lpstr>CONCLUSION 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7</dc:title>
  <dc:creator>ONESMUS</dc:creator>
  <cp:lastModifiedBy>ONESMUS</cp:lastModifiedBy>
  <cp:revision>3</cp:revision>
  <dcterms:created xsi:type="dcterms:W3CDTF">2006-08-16T00:00:00Z</dcterms:created>
  <dcterms:modified xsi:type="dcterms:W3CDTF">2018-03-16T15:49:17Z</dcterms:modified>
</cp:coreProperties>
</file>